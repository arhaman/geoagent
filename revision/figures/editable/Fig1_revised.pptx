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9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A35D93-2BA4-4977-A9C8-EE29CB530BD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10397-B01D-4CB2-8EAA-5B0B6C0D0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8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61BB2-B912-4454-A4DD-F5CE01FEC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1878E4-2C89-4C01-B43E-8806E5840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989C6-9006-4DB6-8F9E-42DF00D4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D0DC-B6E7-40B7-84C5-C018404BD93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C9A5B-A93D-4588-A2D6-E52438756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002B8-FAB3-4B00-861E-55B91725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EFD8F-4878-4606-B6B3-46678CBF3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47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1A11D-380B-491C-9E0C-CFF41ABB8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0F709-0648-4779-A67D-4C7C85DF9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CAA16-1AB0-4646-94F9-B4A331F1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D0DC-B6E7-40B7-84C5-C018404BD93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8DE6E-7FD8-436C-B7CC-8B9FAFD41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7E35F-F7FD-48AB-812C-739AF2925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EFD8F-4878-4606-B6B3-46678CBF3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08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C36D-BAE1-419C-862F-C69D6A85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7AE49-33B3-4ED7-BFBD-F510A8AE3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3B9CB-7A10-496D-B2F0-EAD0C44A9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D0DC-B6E7-40B7-84C5-C018404BD93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7F68F-1304-4340-BDAC-DCAE509FE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6533E-A302-456E-AB8D-3AC6690F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EFD8F-4878-4606-B6B3-46678CBF3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171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C6B70-E2A0-42E9-93BA-9E453FC31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47ED-CB2B-4B11-BD78-D22CBED16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E5141-97F9-49FA-8811-C81CECB1A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6830F-4F1F-481A-B0B4-CEE9BF62C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D0DC-B6E7-40B7-84C5-C018404BD93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77E22-6F89-4EFE-AAC4-6143238F5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E08D4-F2E0-4F68-B005-D9A95D44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EFD8F-4878-4606-B6B3-46678CBF3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87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2382D-5D44-4F57-AC11-23580B59C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79C65-F35D-4E4D-82A8-DFDE1BE16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678D5-68B3-48FA-8D51-5DC8F9F32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476607-8352-42FF-9E84-47319A3ED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1F3CA8-16AA-4365-BEBD-B410DF9050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63E9AA-8F90-4F23-AF80-BD380389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D0DC-B6E7-40B7-84C5-C018404BD93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9174CE-9561-435B-85B8-A48CD30F0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D93CF3-46D6-4F05-987F-A90A0BA4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EFD8F-4878-4606-B6B3-46678CBF3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6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9B040-077D-4B94-9931-4D15B3D4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735188-0A80-4480-B4F9-7B825D65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D0DC-B6E7-40B7-84C5-C018404BD93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837C0-760C-4F1D-A5D7-8D23997C7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ACD17-E356-4941-96A2-DABD1EBB7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EFD8F-4878-4606-B6B3-46678CBF3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8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9F927-385C-4E60-97F2-CE8F7BECE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D0DC-B6E7-40B7-84C5-C018404BD93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AA551-EBE2-4EF7-83B3-05F26259C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DB129-7602-48F4-8561-649389667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EFD8F-4878-4606-B6B3-46678CBF3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ABB5-D8FC-414E-A17F-6A0FECF68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FE6A6-8E8F-4978-A53E-329456178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0A901-BD36-47A9-BA04-BEF48C98C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2E198-0D61-429D-B384-B7E55F23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D0DC-B6E7-40B7-84C5-C018404BD93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E1D13-303E-43F3-AA1E-A3AD8773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0E14F-45E0-47CE-AF71-FB017646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EFD8F-4878-4606-B6B3-46678CBF3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18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FD4F-143B-4A0A-B695-82EDDF2E3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4772C3-A0C9-4CF6-AF67-F0B38C985D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24781-1FF8-4E4D-B968-E9027C632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2278D-7DC9-44DD-8C26-5B7165C49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D0DC-B6E7-40B7-84C5-C018404BD93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FF49B-32C0-4679-9FD1-C6CF3021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E5238-7F01-47C0-88F2-0382A2141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EFD8F-4878-4606-B6B3-46678CBF3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65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55127-77CD-4629-81A8-3F8828D2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EE08E-E86F-4E0B-B1A6-BCD6CE9A0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1CE4E-AB25-495C-9D26-2DE60711E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D0DC-B6E7-40B7-84C5-C018404BD93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EC222-A0CA-49B7-A5EC-62A51F11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C927F-0514-4510-B723-D452F8DF9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EFD8F-4878-4606-B6B3-46678CBF3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6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428B4-3C77-422C-A24C-9137CE4782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1F112-EF9C-427D-B7A7-B255CD3B0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DB943-2BAB-4FC7-BEE2-D89C58BF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D0DC-B6E7-40B7-84C5-C018404BD93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33EAF-A991-4363-A711-F4E7B64D7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DABF1-36D9-422A-951F-FD733ADF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EFD8F-4878-4606-B6B3-46678CBF3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34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4675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68467C-3BEC-44BC-8564-439A027A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D2BA1-1F18-42C2-9524-D9D9ADF85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857EF-A07C-484E-87C9-B40927FE4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0D0DC-B6E7-40B7-84C5-C018404BD93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E5E32-0A83-4F40-AAF8-E21381F4C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1BD16-19E6-4851-BF20-667E42B31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EFD8F-4878-4606-B6B3-46678CBF3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3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6"/>
          <p:cNvSpPr/>
          <p:nvPr/>
        </p:nvSpPr>
        <p:spPr>
          <a:xfrm>
            <a:off x="8343900" y="1906522"/>
            <a:ext cx="3520440" cy="3886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rgbClr val="00B0F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2395728" y="402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maps</a:t>
            </a:r>
            <a:endParaRPr lang="en-US" sz="2000" dirty="0"/>
          </a:p>
        </p:txBody>
      </p:sp>
      <p:pic>
        <p:nvPicPr>
          <p:cNvPr id="3" name="Image 0" descr="thumb_facies_d1.png"/>
          <p:cNvPicPr>
            <a:picLocks noChangeAspect="1"/>
          </p:cNvPicPr>
          <p:nvPr/>
        </p:nvPicPr>
        <p:blipFill rotWithShape="1">
          <a:blip r:embed="rId3"/>
          <a:srcRect l="2521" t="5166" b="2108"/>
          <a:stretch/>
        </p:blipFill>
        <p:spPr>
          <a:xfrm>
            <a:off x="10112600" y="399834"/>
            <a:ext cx="1337013" cy="11537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" y="411480"/>
            <a:ext cx="1554480" cy="1097280"/>
          </a:xfrm>
          <a:prstGeom prst="rect">
            <a:avLst/>
          </a:prstGeom>
          <a:ln w="9525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7160" y="1544799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facies</a:t>
            </a:r>
            <a:endParaRPr lang="en-US" sz="1600" b="1" dirty="0"/>
          </a:p>
        </p:txBody>
      </p:sp>
      <p:sp>
        <p:nvSpPr>
          <p:cNvPr id="7" name="Shape 3"/>
          <p:cNvSpPr/>
          <p:nvPr/>
        </p:nvSpPr>
        <p:spPr>
          <a:xfrm>
            <a:off x="1783080" y="411480"/>
            <a:ext cx="1445290" cy="1097280"/>
          </a:xfrm>
          <a:prstGeom prst="rect">
            <a:avLst/>
          </a:prstGeom>
          <a:ln w="9525">
            <a:solidFill>
              <a:srgbClr val="33333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600200" y="1544799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porosity</a:t>
            </a:r>
            <a:endParaRPr lang="en-US" sz="1600" b="1" dirty="0"/>
          </a:p>
        </p:txBody>
      </p:sp>
      <p:sp>
        <p:nvSpPr>
          <p:cNvPr id="9" name="Shape 5"/>
          <p:cNvSpPr/>
          <p:nvPr/>
        </p:nvSpPr>
        <p:spPr>
          <a:xfrm>
            <a:off x="6766560" y="682708"/>
            <a:ext cx="2188015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71847" y="6550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patches  256²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 flipV="1">
            <a:off x="3235450" y="946606"/>
            <a:ext cx="226856" cy="2119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9966960" y="109728"/>
            <a:ext cx="2225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test maps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10104120" y="384047"/>
            <a:ext cx="1417320" cy="1181459"/>
          </a:xfrm>
          <a:prstGeom prst="rect">
            <a:avLst/>
          </a:prstGeom>
          <a:ln w="9525">
            <a:solidFill>
              <a:srgbClr val="33333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921240" y="1615799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facies (test)</a:t>
            </a:r>
            <a:endParaRPr lang="en-US" sz="1600" b="1" dirty="0"/>
          </a:p>
        </p:txBody>
      </p:sp>
      <p:sp>
        <p:nvSpPr>
          <p:cNvPr id="18" name="Shape 13"/>
          <p:cNvSpPr/>
          <p:nvPr/>
        </p:nvSpPr>
        <p:spPr>
          <a:xfrm>
            <a:off x="228600" y="1920240"/>
            <a:ext cx="2880360" cy="3886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411480" y="205740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666666"/>
          </a:solidFill>
          <a:ln>
            <a:solidFill>
              <a:schemeClr val="tx1"/>
            </a:solidFill>
          </a:ln>
        </p:spPr>
      </p:sp>
      <p:sp>
        <p:nvSpPr>
          <p:cNvPr id="20" name="Text 15"/>
          <p:cNvSpPr/>
          <p:nvPr/>
        </p:nvSpPr>
        <p:spPr>
          <a:xfrm>
            <a:off x="411480" y="2057400"/>
            <a:ext cx="2514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single pass</a:t>
            </a:r>
            <a:endParaRPr lang="en-US" sz="2000" dirty="0"/>
          </a:p>
        </p:txBody>
      </p:sp>
      <p:pic>
        <p:nvPicPr>
          <p:cNvPr id="21" name="Image 3" descr="patch_fac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32" y="2690160"/>
            <a:ext cx="1247349" cy="107501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6731" y="2669690"/>
            <a:ext cx="1257749" cy="1085805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72481" y="38668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b="1" dirty="0"/>
          </a:p>
        </p:txBody>
      </p:sp>
      <p:sp>
        <p:nvSpPr>
          <p:cNvPr id="24" name="Shape 18"/>
          <p:cNvSpPr/>
          <p:nvPr/>
        </p:nvSpPr>
        <p:spPr>
          <a:xfrm>
            <a:off x="1600200" y="3017520"/>
            <a:ext cx="320040" cy="182880"/>
          </a:xfrm>
          <a:prstGeom prst="rightArrow">
            <a:avLst/>
          </a:prstGeom>
          <a:solidFill>
            <a:srgbClr val="222222"/>
          </a:solidFill>
          <a:ln/>
        </p:spPr>
      </p:sp>
      <p:sp>
        <p:nvSpPr>
          <p:cNvPr id="25" name="Shape 19"/>
          <p:cNvSpPr/>
          <p:nvPr/>
        </p:nvSpPr>
        <p:spPr>
          <a:xfrm>
            <a:off x="1965960" y="28803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F6F8B"/>
          </a:solidFill>
          <a:ln/>
        </p:spPr>
      </p:sp>
      <p:sp>
        <p:nvSpPr>
          <p:cNvPr id="26" name="Text 20"/>
          <p:cNvSpPr/>
          <p:nvPr/>
        </p:nvSpPr>
        <p:spPr>
          <a:xfrm>
            <a:off x="1965960" y="2880360"/>
            <a:ext cx="960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Pix2Pix G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2331719" y="3474720"/>
            <a:ext cx="263921" cy="383044"/>
          </a:xfrm>
          <a:prstGeom prst="downArrow">
            <a:avLst/>
          </a:prstGeom>
          <a:solidFill>
            <a:srgbClr val="666666"/>
          </a:solidFill>
          <a:ln/>
        </p:spPr>
      </p:sp>
      <p:pic>
        <p:nvPicPr>
          <p:cNvPr id="28" name="Image 4" descr="patch_po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5428" y="3895164"/>
            <a:ext cx="1280160" cy="107135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1726603" y="3877235"/>
            <a:ext cx="1308847" cy="109979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1723464" y="5013673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output</a:t>
            </a:r>
            <a:endParaRPr lang="en-US" sz="1400" b="1" dirty="0"/>
          </a:p>
        </p:txBody>
      </p:sp>
      <p:sp>
        <p:nvSpPr>
          <p:cNvPr id="31" name="Text 24"/>
          <p:cNvSpPr/>
          <p:nvPr/>
        </p:nvSpPr>
        <p:spPr>
          <a:xfrm>
            <a:off x="228600" y="5167615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reliability estimate</a:t>
            </a:r>
            <a:endParaRPr lang="en-US" dirty="0"/>
          </a:p>
          <a:p>
            <a:pPr marL="0" indent="0" algn="ctr">
              <a:buNone/>
            </a:pPr>
            <a:r>
              <a:rPr lang="en-US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abstention</a:t>
            </a:r>
            <a:endParaRPr lang="en-US" dirty="0"/>
          </a:p>
        </p:txBody>
      </p:sp>
      <p:sp>
        <p:nvSpPr>
          <p:cNvPr id="32" name="Shape 25"/>
          <p:cNvSpPr/>
          <p:nvPr/>
        </p:nvSpPr>
        <p:spPr>
          <a:xfrm>
            <a:off x="3337560" y="1920240"/>
            <a:ext cx="4206240" cy="3886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rgbClr val="C0000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Shape 26"/>
          <p:cNvSpPr/>
          <p:nvPr/>
        </p:nvSpPr>
        <p:spPr>
          <a:xfrm>
            <a:off x="4937760" y="20116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937760" y="2011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</a:t>
            </a: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3359253" y="359807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facies</a:t>
            </a:r>
            <a:endParaRPr lang="en-US" sz="1400" b="1" dirty="0"/>
          </a:p>
        </p:txBody>
      </p:sp>
      <p:sp>
        <p:nvSpPr>
          <p:cNvPr id="40" name="Text 31"/>
          <p:cNvSpPr/>
          <p:nvPr/>
        </p:nvSpPr>
        <p:spPr>
          <a:xfrm>
            <a:off x="4572000" y="35601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porosity</a:t>
            </a:r>
            <a:endParaRPr lang="en-US" sz="1400" b="1" dirty="0"/>
          </a:p>
        </p:txBody>
      </p:sp>
      <p:sp>
        <p:nvSpPr>
          <p:cNvPr id="41" name="Shape 32"/>
          <p:cNvSpPr/>
          <p:nvPr/>
        </p:nvSpPr>
        <p:spPr>
          <a:xfrm>
            <a:off x="4480560" y="3611880"/>
            <a:ext cx="274320" cy="274320"/>
          </a:xfrm>
          <a:prstGeom prst="downArrow">
            <a:avLst/>
          </a:prstGeom>
          <a:solidFill>
            <a:srgbClr val="2F3C7E"/>
          </a:solidFill>
          <a:ln/>
        </p:spPr>
      </p:sp>
      <p:sp>
        <p:nvSpPr>
          <p:cNvPr id="42" name="Shape 33"/>
          <p:cNvSpPr/>
          <p:nvPr/>
        </p:nvSpPr>
        <p:spPr>
          <a:xfrm>
            <a:off x="3611880" y="397764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2F3C7E"/>
          </a:solidFill>
          <a:ln/>
        </p:spPr>
      </p:sp>
      <p:sp>
        <p:nvSpPr>
          <p:cNvPr id="43" name="Text 34"/>
          <p:cNvSpPr/>
          <p:nvPr/>
        </p:nvSpPr>
        <p:spPr>
          <a:xfrm>
            <a:off x="3611880" y="3977640"/>
            <a:ext cx="1920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Generator</a:t>
            </a:r>
            <a:endParaRPr lang="en-US" sz="2000" dirty="0"/>
          </a:p>
        </p:txBody>
      </p:sp>
      <p:sp>
        <p:nvSpPr>
          <p:cNvPr id="44" name="Shape 35"/>
          <p:cNvSpPr/>
          <p:nvPr/>
        </p:nvSpPr>
        <p:spPr>
          <a:xfrm>
            <a:off x="3611880" y="466344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2F3C7E"/>
          </a:solidFill>
          <a:ln/>
        </p:spPr>
      </p:sp>
      <p:sp>
        <p:nvSpPr>
          <p:cNvPr id="45" name="Text 36"/>
          <p:cNvSpPr/>
          <p:nvPr/>
        </p:nvSpPr>
        <p:spPr>
          <a:xfrm>
            <a:off x="3611880" y="4663440"/>
            <a:ext cx="1920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PatchGAN D</a:t>
            </a:r>
            <a:endParaRPr lang="en-US" dirty="0"/>
          </a:p>
        </p:txBody>
      </p:sp>
      <p:sp>
        <p:nvSpPr>
          <p:cNvPr id="46" name="Shape 37"/>
          <p:cNvSpPr/>
          <p:nvPr/>
        </p:nvSpPr>
        <p:spPr>
          <a:xfrm>
            <a:off x="5760720" y="40233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F3C7E"/>
          </a:solidFill>
          <a:ln/>
        </p:spPr>
      </p:sp>
      <p:sp>
        <p:nvSpPr>
          <p:cNvPr id="47" name="Text 38"/>
          <p:cNvSpPr/>
          <p:nvPr/>
        </p:nvSpPr>
        <p:spPr>
          <a:xfrm>
            <a:off x="576072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+ λ·L1</a:t>
            </a:r>
            <a:endParaRPr lang="en-US" sz="1400" dirty="0"/>
          </a:p>
        </p:txBody>
      </p:sp>
      <p:sp>
        <p:nvSpPr>
          <p:cNvPr id="48" name="Shape 39"/>
          <p:cNvSpPr/>
          <p:nvPr/>
        </p:nvSpPr>
        <p:spPr>
          <a:xfrm>
            <a:off x="5577840" y="4251960"/>
            <a:ext cx="164592" cy="0"/>
          </a:xfrm>
          <a:prstGeom prst="line">
            <a:avLst/>
          </a:prstGeom>
          <a:noFill/>
          <a:ln w="19050">
            <a:solidFill>
              <a:srgbClr val="2F3C7E"/>
            </a:solidFill>
            <a:prstDash val="solid"/>
            <a:tailEnd type="triangle"/>
          </a:ln>
        </p:spPr>
      </p:sp>
      <p:sp>
        <p:nvSpPr>
          <p:cNvPr id="49" name="Shape 40"/>
          <p:cNvSpPr/>
          <p:nvPr/>
        </p:nvSpPr>
        <p:spPr>
          <a:xfrm>
            <a:off x="5760720" y="46634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F3C7E"/>
          </a:solidFill>
          <a:ln/>
        </p:spPr>
      </p:sp>
      <p:sp>
        <p:nvSpPr>
          <p:cNvPr id="50" name="Text 41"/>
          <p:cNvSpPr/>
          <p:nvPr/>
        </p:nvSpPr>
        <p:spPr>
          <a:xfrm>
            <a:off x="5760720" y="4663440"/>
            <a:ext cx="1554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51" name="Text 42"/>
          <p:cNvSpPr/>
          <p:nvPr/>
        </p:nvSpPr>
        <p:spPr>
          <a:xfrm>
            <a:off x="3520440" y="5257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models, one per direction</a:t>
            </a:r>
            <a:endParaRPr lang="en-US" sz="1600" dirty="0"/>
          </a:p>
        </p:txBody>
      </p:sp>
      <p:sp>
        <p:nvSpPr>
          <p:cNvPr id="52" name="Text 43"/>
          <p:cNvSpPr/>
          <p:nvPr/>
        </p:nvSpPr>
        <p:spPr>
          <a:xfrm>
            <a:off x="3520440" y="5513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27 135 patches · 100 epochs</a:t>
            </a:r>
            <a:endParaRPr lang="en-US" sz="1400" dirty="0"/>
          </a:p>
        </p:txBody>
      </p:sp>
      <p:sp>
        <p:nvSpPr>
          <p:cNvPr id="53" name="Shape 44"/>
          <p:cNvSpPr/>
          <p:nvPr/>
        </p:nvSpPr>
        <p:spPr>
          <a:xfrm>
            <a:off x="7589520" y="3108960"/>
            <a:ext cx="777240" cy="0"/>
          </a:xfrm>
          <a:prstGeom prst="line">
            <a:avLst/>
          </a:prstGeom>
          <a:noFill/>
          <a:ln w="31750">
            <a:solidFill>
              <a:srgbClr val="2F3C7E"/>
            </a:solidFill>
            <a:prstDash val="dash"/>
            <a:tailEnd type="triangle"/>
          </a:ln>
        </p:spPr>
      </p:sp>
      <p:sp>
        <p:nvSpPr>
          <p:cNvPr id="54" name="Text 45"/>
          <p:cNvSpPr/>
          <p:nvPr/>
        </p:nvSpPr>
        <p:spPr>
          <a:xfrm>
            <a:off x="7391176" y="279954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G</a:t>
            </a:r>
            <a:endParaRPr lang="en-US" sz="1500" dirty="0"/>
          </a:p>
        </p:txBody>
      </p:sp>
      <p:sp>
        <p:nvSpPr>
          <p:cNvPr id="56" name="Shape 47"/>
          <p:cNvSpPr/>
          <p:nvPr/>
        </p:nvSpPr>
        <p:spPr>
          <a:xfrm>
            <a:off x="9464040" y="20116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9464040" y="20116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— reliability</a:t>
            </a:r>
            <a:endParaRPr lang="en-US" sz="1600" dirty="0"/>
          </a:p>
        </p:txBody>
      </p:sp>
      <p:sp>
        <p:nvSpPr>
          <p:cNvPr id="58" name="Shape 49"/>
          <p:cNvSpPr/>
          <p:nvPr/>
        </p:nvSpPr>
        <p:spPr>
          <a:xfrm>
            <a:off x="8641080" y="26060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07B39"/>
          </a:solidFill>
          <a:ln/>
        </p:spPr>
      </p:sp>
      <p:sp>
        <p:nvSpPr>
          <p:cNvPr id="59" name="Text 50"/>
          <p:cNvSpPr/>
          <p:nvPr/>
        </p:nvSpPr>
        <p:spPr>
          <a:xfrm>
            <a:off x="864108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b="1" dirty="0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· TTA×8</a:t>
            </a:r>
            <a:endParaRPr lang="en-US" dirty="0"/>
          </a:p>
        </p:txBody>
      </p:sp>
      <p:sp>
        <p:nvSpPr>
          <p:cNvPr id="60" name="Shape 51"/>
          <p:cNvSpPr/>
          <p:nvPr/>
        </p:nvSpPr>
        <p:spPr>
          <a:xfrm>
            <a:off x="10287000" y="26060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07B39"/>
          </a:solidFill>
          <a:ln/>
        </p:spPr>
      </p:sp>
      <p:sp>
        <p:nvSpPr>
          <p:cNvPr id="61" name="Text 52"/>
          <p:cNvSpPr/>
          <p:nvPr/>
        </p:nvSpPr>
        <p:spPr>
          <a:xfrm>
            <a:off x="1028700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62" name="Shape 53"/>
          <p:cNvSpPr/>
          <p:nvPr/>
        </p:nvSpPr>
        <p:spPr>
          <a:xfrm>
            <a:off x="10122408" y="2834640"/>
            <a:ext cx="146304" cy="0"/>
          </a:xfrm>
          <a:prstGeom prst="line">
            <a:avLst/>
          </a:prstGeom>
          <a:noFill/>
          <a:ln w="25400">
            <a:solidFill>
              <a:srgbClr val="B35C1E"/>
            </a:solidFill>
            <a:prstDash val="solid"/>
            <a:tailEnd type="triangle"/>
          </a:ln>
        </p:spPr>
      </p:sp>
      <p:sp>
        <p:nvSpPr>
          <p:cNvPr id="63" name="Shape 54"/>
          <p:cNvSpPr/>
          <p:nvPr/>
        </p:nvSpPr>
        <p:spPr>
          <a:xfrm>
            <a:off x="10881360" y="3108960"/>
            <a:ext cx="256032" cy="228600"/>
          </a:xfrm>
          <a:prstGeom prst="downArrow">
            <a:avLst/>
          </a:prstGeom>
          <a:solidFill>
            <a:srgbClr val="B35C1E"/>
          </a:solidFill>
          <a:ln/>
        </p:spPr>
      </p:sp>
      <p:sp>
        <p:nvSpPr>
          <p:cNvPr id="64" name="Shape 55"/>
          <p:cNvSpPr/>
          <p:nvPr/>
        </p:nvSpPr>
        <p:spPr>
          <a:xfrm>
            <a:off x="10287000" y="33832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07B39"/>
          </a:solidFill>
          <a:ln/>
        </p:spPr>
      </p:sp>
      <p:sp>
        <p:nvSpPr>
          <p:cNvPr id="65" name="Text 56"/>
          <p:cNvSpPr/>
          <p:nvPr/>
        </p:nvSpPr>
        <p:spPr>
          <a:xfrm>
            <a:off x="1028700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· τ (val.)</a:t>
            </a:r>
            <a:endParaRPr lang="en-US" sz="1200" dirty="0"/>
          </a:p>
        </p:txBody>
      </p:sp>
      <p:sp>
        <p:nvSpPr>
          <p:cNvPr id="66" name="Shape 57"/>
          <p:cNvSpPr/>
          <p:nvPr/>
        </p:nvSpPr>
        <p:spPr>
          <a:xfrm>
            <a:off x="9281160" y="3977640"/>
            <a:ext cx="1051560" cy="86868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B35C1E"/>
            </a:solidFill>
            <a:prstDash val="solid"/>
          </a:ln>
        </p:spPr>
      </p:sp>
      <p:sp>
        <p:nvSpPr>
          <p:cNvPr id="67" name="Text 58"/>
          <p:cNvSpPr/>
          <p:nvPr/>
        </p:nvSpPr>
        <p:spPr>
          <a:xfrm>
            <a:off x="9281160" y="397764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τ ?</a:t>
            </a:r>
            <a:endParaRPr lang="en-US" sz="1200" dirty="0"/>
          </a:p>
        </p:txBody>
      </p:sp>
      <p:sp>
        <p:nvSpPr>
          <p:cNvPr id="68" name="Shape 59"/>
          <p:cNvSpPr/>
          <p:nvPr/>
        </p:nvSpPr>
        <p:spPr>
          <a:xfrm flipH="1">
            <a:off x="9921240" y="3611879"/>
            <a:ext cx="365760" cy="475487"/>
          </a:xfrm>
          <a:prstGeom prst="line">
            <a:avLst/>
          </a:prstGeom>
          <a:noFill/>
          <a:ln w="38100">
            <a:solidFill>
              <a:srgbClr val="B35C1E"/>
            </a:solidFill>
            <a:prstDash val="solid"/>
            <a:tailEnd type="triangle"/>
          </a:ln>
        </p:spPr>
      </p:sp>
      <p:sp>
        <p:nvSpPr>
          <p:cNvPr id="69" name="Shape 60"/>
          <p:cNvSpPr/>
          <p:nvPr/>
        </p:nvSpPr>
        <p:spPr>
          <a:xfrm>
            <a:off x="8568210" y="458013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0392B"/>
          </a:solidFill>
          <a:ln/>
        </p:spPr>
      </p:sp>
      <p:sp>
        <p:nvSpPr>
          <p:cNvPr id="70" name="Text 61"/>
          <p:cNvSpPr/>
          <p:nvPr/>
        </p:nvSpPr>
        <p:spPr>
          <a:xfrm>
            <a:off x="856821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b="1" dirty="0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</a:t>
            </a:r>
            <a:endParaRPr lang="en-US" dirty="0"/>
          </a:p>
        </p:txBody>
      </p:sp>
      <p:sp>
        <p:nvSpPr>
          <p:cNvPr id="71" name="Shape 62"/>
          <p:cNvSpPr/>
          <p:nvPr/>
        </p:nvSpPr>
        <p:spPr>
          <a:xfrm flipH="1">
            <a:off x="9135136" y="4580136"/>
            <a:ext cx="328903" cy="299676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72" name="Shape 63"/>
          <p:cNvSpPr/>
          <p:nvPr/>
        </p:nvSpPr>
        <p:spPr>
          <a:xfrm flipH="1" flipV="1">
            <a:off x="8869680" y="3063239"/>
            <a:ext cx="18288" cy="1475269"/>
          </a:xfrm>
          <a:prstGeom prst="line">
            <a:avLst/>
          </a:prstGeom>
          <a:noFill/>
          <a:ln w="38100">
            <a:solidFill>
              <a:srgbClr val="C0392B"/>
            </a:solidFill>
            <a:prstDash val="dash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73" name="Text 64"/>
          <p:cNvSpPr/>
          <p:nvPr/>
        </p:nvSpPr>
        <p:spPr>
          <a:xfrm>
            <a:off x="8350000" y="3150000"/>
            <a:ext cx="52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LEARN</a:t>
            </a:r>
            <a:endParaRPr lang="en-US" sz="1600" dirty="0"/>
          </a:p>
        </p:txBody>
      </p:sp>
      <p:sp>
        <p:nvSpPr>
          <p:cNvPr id="74" name="Shape 65"/>
          <p:cNvSpPr/>
          <p:nvPr/>
        </p:nvSpPr>
        <p:spPr>
          <a:xfrm>
            <a:off x="10881360" y="4285735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/>
        </p:spPr>
      </p:sp>
      <p:sp>
        <p:nvSpPr>
          <p:cNvPr id="75" name="Text 66"/>
          <p:cNvSpPr/>
          <p:nvPr/>
        </p:nvSpPr>
        <p:spPr>
          <a:xfrm>
            <a:off x="10881360" y="4285735"/>
            <a:ext cx="640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b="1" dirty="0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dirty="0"/>
          </a:p>
        </p:txBody>
      </p:sp>
      <p:sp>
        <p:nvSpPr>
          <p:cNvPr id="76" name="Shape 67"/>
          <p:cNvSpPr/>
          <p:nvPr/>
        </p:nvSpPr>
        <p:spPr>
          <a:xfrm>
            <a:off x="10332720" y="4434840"/>
            <a:ext cx="548640" cy="103676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  <a:tailEnd type="triangle"/>
          </a:ln>
        </p:spPr>
      </p:sp>
      <p:pic>
        <p:nvPicPr>
          <p:cNvPr id="77" name="Image 7" descr="patch_po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4811355"/>
            <a:ext cx="1005840" cy="777240"/>
          </a:xfrm>
          <a:prstGeom prst="rect">
            <a:avLst/>
          </a:prstGeom>
        </p:spPr>
      </p:pic>
      <p:sp>
        <p:nvSpPr>
          <p:cNvPr id="78" name="Shape 68"/>
          <p:cNvSpPr/>
          <p:nvPr/>
        </p:nvSpPr>
        <p:spPr>
          <a:xfrm>
            <a:off x="10607040" y="4811355"/>
            <a:ext cx="1005840" cy="777240"/>
          </a:xfrm>
          <a:prstGeom prst="rect">
            <a:avLst/>
          </a:prstGeom>
          <a:ln w="9525">
            <a:solidFill>
              <a:srgbClr val="333333"/>
            </a:solidFill>
            <a:prstDash val="solid"/>
          </a:ln>
        </p:spPr>
      </p:sp>
      <p:sp>
        <p:nvSpPr>
          <p:cNvPr id="79" name="Text 69"/>
          <p:cNvSpPr/>
          <p:nvPr/>
        </p:nvSpPr>
        <p:spPr>
          <a:xfrm>
            <a:off x="10424160" y="559773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output</a:t>
            </a:r>
            <a:endParaRPr lang="en-US" sz="1200" dirty="0"/>
          </a:p>
        </p:txBody>
      </p:sp>
      <p:sp>
        <p:nvSpPr>
          <p:cNvPr id="81" name="Shape 71"/>
          <p:cNvSpPr/>
          <p:nvPr/>
        </p:nvSpPr>
        <p:spPr>
          <a:xfrm>
            <a:off x="228600" y="5989320"/>
            <a:ext cx="7315200" cy="38404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82" name="Text 72"/>
          <p:cNvSpPr/>
          <p:nvPr/>
        </p:nvSpPr>
        <p:spPr>
          <a:xfrm>
            <a:off x="228600" y="59893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property predictions</a:t>
            </a:r>
            <a:endParaRPr lang="en-US" sz="2000" dirty="0"/>
          </a:p>
        </p:txBody>
      </p:sp>
      <p:sp>
        <p:nvSpPr>
          <p:cNvPr id="83" name="Shape 73"/>
          <p:cNvSpPr/>
          <p:nvPr/>
        </p:nvSpPr>
        <p:spPr>
          <a:xfrm>
            <a:off x="1051560" y="6473952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/>
        </p:spPr>
      </p:sp>
      <p:sp>
        <p:nvSpPr>
          <p:cNvPr id="84" name="Text 74"/>
          <p:cNvSpPr/>
          <p:nvPr/>
        </p:nvSpPr>
        <p:spPr>
          <a:xfrm>
            <a:off x="1051560" y="6473952"/>
            <a:ext cx="1874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volumetrics</a:t>
            </a:r>
            <a:endParaRPr lang="en-US" sz="1600" dirty="0"/>
          </a:p>
        </p:txBody>
      </p:sp>
      <p:sp>
        <p:nvSpPr>
          <p:cNvPr id="85" name="Shape 75"/>
          <p:cNvSpPr/>
          <p:nvPr/>
        </p:nvSpPr>
        <p:spPr>
          <a:xfrm>
            <a:off x="3200400" y="6473952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/>
        </p:spPr>
      </p:sp>
      <p:sp>
        <p:nvSpPr>
          <p:cNvPr id="86" name="Text 76"/>
          <p:cNvSpPr/>
          <p:nvPr/>
        </p:nvSpPr>
        <p:spPr>
          <a:xfrm>
            <a:off x="3200400" y="6473952"/>
            <a:ext cx="1874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matching</a:t>
            </a:r>
            <a:endParaRPr lang="en-US" sz="1600" dirty="0"/>
          </a:p>
        </p:txBody>
      </p:sp>
      <p:sp>
        <p:nvSpPr>
          <p:cNvPr id="87" name="Shape 77"/>
          <p:cNvSpPr/>
          <p:nvPr/>
        </p:nvSpPr>
        <p:spPr>
          <a:xfrm>
            <a:off x="5349240" y="6473952"/>
            <a:ext cx="1874520" cy="329184"/>
          </a:xfrm>
          <a:prstGeom prst="roundRect">
            <a:avLst>
              <a:gd name="adj" fmla="val 16667"/>
            </a:avLst>
          </a:prstGeom>
          <a:solidFill>
            <a:srgbClr val="555555"/>
          </a:solidFill>
          <a:ln/>
        </p:spPr>
      </p:sp>
      <p:sp>
        <p:nvSpPr>
          <p:cNvPr id="88" name="Text 78"/>
          <p:cNvSpPr/>
          <p:nvPr/>
        </p:nvSpPr>
        <p:spPr>
          <a:xfrm>
            <a:off x="5349240" y="6473952"/>
            <a:ext cx="1874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placement</a:t>
            </a:r>
            <a:endParaRPr lang="en-US" sz="1600" dirty="0"/>
          </a:p>
        </p:txBody>
      </p:sp>
      <p:sp>
        <p:nvSpPr>
          <p:cNvPr id="89" name="Shape 79"/>
          <p:cNvSpPr/>
          <p:nvPr/>
        </p:nvSpPr>
        <p:spPr>
          <a:xfrm>
            <a:off x="3749040" y="6382512"/>
            <a:ext cx="201168" cy="91440"/>
          </a:xfrm>
          <a:prstGeom prst="downArrow">
            <a:avLst/>
          </a:prstGeom>
          <a:solidFill>
            <a:srgbClr val="111111"/>
          </a:solidFill>
          <a:ln/>
        </p:spPr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3C357759-E412-4571-B65E-3464BB6836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9386" y="354355"/>
            <a:ext cx="1188720" cy="1211152"/>
          </a:xfrm>
          <a:prstGeom prst="rect">
            <a:avLst/>
          </a:prstGeom>
        </p:spPr>
      </p:pic>
      <p:sp>
        <p:nvSpPr>
          <p:cNvPr id="98" name="Shape 5">
            <a:extLst>
              <a:ext uri="{FF2B5EF4-FFF2-40B4-BE49-F238E27FC236}">
                <a16:creationId xmlns:a16="http://schemas.microsoft.com/office/drawing/2014/main" id="{BFACA174-98F8-445A-A600-45BFE07CFC55}"/>
              </a:ext>
            </a:extLst>
          </p:cNvPr>
          <p:cNvSpPr/>
          <p:nvPr/>
        </p:nvSpPr>
        <p:spPr>
          <a:xfrm>
            <a:off x="3487898" y="411480"/>
            <a:ext cx="1151247" cy="1078992"/>
          </a:xfrm>
          <a:prstGeom prst="rect">
            <a:avLst/>
          </a:prstGeom>
          <a:ln w="9525">
            <a:solidFill>
              <a:srgbClr val="333333"/>
            </a:solidFill>
            <a:prstDash val="solid"/>
          </a:ln>
        </p:spPr>
      </p:sp>
      <p:sp>
        <p:nvSpPr>
          <p:cNvPr id="99" name="Text 6">
            <a:extLst>
              <a:ext uri="{FF2B5EF4-FFF2-40B4-BE49-F238E27FC236}">
                <a16:creationId xmlns:a16="http://schemas.microsoft.com/office/drawing/2014/main" id="{C49A2362-CA6A-42AE-A015-2516B483FB1A}"/>
              </a:ext>
            </a:extLst>
          </p:cNvPr>
          <p:cNvSpPr/>
          <p:nvPr/>
        </p:nvSpPr>
        <p:spPr>
          <a:xfrm>
            <a:off x="3374136" y="1531083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facies</a:t>
            </a:r>
            <a:endParaRPr lang="en-US" sz="1600" b="1" dirty="0"/>
          </a:p>
        </p:txBody>
      </p:sp>
      <p:sp>
        <p:nvSpPr>
          <p:cNvPr id="100" name="Shape 7">
            <a:extLst>
              <a:ext uri="{FF2B5EF4-FFF2-40B4-BE49-F238E27FC236}">
                <a16:creationId xmlns:a16="http://schemas.microsoft.com/office/drawing/2014/main" id="{9FB5211E-7A10-4C0F-9873-B6780A776518}"/>
              </a:ext>
            </a:extLst>
          </p:cNvPr>
          <p:cNvSpPr/>
          <p:nvPr/>
        </p:nvSpPr>
        <p:spPr>
          <a:xfrm>
            <a:off x="4665186" y="410582"/>
            <a:ext cx="1040714" cy="1079885"/>
          </a:xfrm>
          <a:prstGeom prst="rect">
            <a:avLst/>
          </a:prstGeom>
          <a:ln w="9525">
            <a:solidFill>
              <a:srgbClr val="333333"/>
            </a:solidFill>
            <a:prstDash val="solid"/>
          </a:ln>
        </p:spPr>
      </p:sp>
      <p:sp>
        <p:nvSpPr>
          <p:cNvPr id="101" name="Text 8">
            <a:extLst>
              <a:ext uri="{FF2B5EF4-FFF2-40B4-BE49-F238E27FC236}">
                <a16:creationId xmlns:a16="http://schemas.microsoft.com/office/drawing/2014/main" id="{789C70DB-5B60-4168-9F31-517675F15AC4}"/>
              </a:ext>
            </a:extLst>
          </p:cNvPr>
          <p:cNvSpPr/>
          <p:nvPr/>
        </p:nvSpPr>
        <p:spPr>
          <a:xfrm>
            <a:off x="4517136" y="1524359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(Por/Perm)</a:t>
            </a:r>
            <a:endParaRPr lang="en-US" sz="1600" b="1" dirty="0"/>
          </a:p>
        </p:txBody>
      </p:sp>
      <p:sp>
        <p:nvSpPr>
          <p:cNvPr id="102" name="Shape 11">
            <a:extLst>
              <a:ext uri="{FF2B5EF4-FFF2-40B4-BE49-F238E27FC236}">
                <a16:creationId xmlns:a16="http://schemas.microsoft.com/office/drawing/2014/main" id="{CA637379-5DD8-4EB4-8210-36F014A843E6}"/>
              </a:ext>
            </a:extLst>
          </p:cNvPr>
          <p:cNvSpPr/>
          <p:nvPr/>
        </p:nvSpPr>
        <p:spPr>
          <a:xfrm flipV="1">
            <a:off x="5792385" y="948726"/>
            <a:ext cx="654645" cy="9144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tailEnd type="triangle"/>
          </a:ln>
        </p:spPr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321F8A9D-C9D8-4219-8E9B-4F882F0531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323" y="368360"/>
            <a:ext cx="1188720" cy="1188720"/>
          </a:xfrm>
          <a:prstGeom prst="rect">
            <a:avLst/>
          </a:prstGeom>
        </p:spPr>
      </p:pic>
      <p:pic>
        <p:nvPicPr>
          <p:cNvPr id="109" name="Image 3" descr="patch_facies.png">
            <a:extLst>
              <a:ext uri="{FF2B5EF4-FFF2-40B4-BE49-F238E27FC236}">
                <a16:creationId xmlns:a16="http://schemas.microsoft.com/office/drawing/2014/main" id="{F33506DC-F281-4D3A-8D98-2D5569D3D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796" y="2491203"/>
            <a:ext cx="1247349" cy="1075016"/>
          </a:xfrm>
          <a:prstGeom prst="rect">
            <a:avLst/>
          </a:prstGeom>
        </p:spPr>
      </p:pic>
      <p:sp>
        <p:nvSpPr>
          <p:cNvPr id="110" name="Shape 16">
            <a:extLst>
              <a:ext uri="{FF2B5EF4-FFF2-40B4-BE49-F238E27FC236}">
                <a16:creationId xmlns:a16="http://schemas.microsoft.com/office/drawing/2014/main" id="{1D99B2BD-9E7A-4D61-B81C-91BEBCAF3ADA}"/>
              </a:ext>
            </a:extLst>
          </p:cNvPr>
          <p:cNvSpPr/>
          <p:nvPr/>
        </p:nvSpPr>
        <p:spPr>
          <a:xfrm>
            <a:off x="3391795" y="2470733"/>
            <a:ext cx="1257749" cy="1085805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</p:sp>
      <p:pic>
        <p:nvPicPr>
          <p:cNvPr id="111" name="Image 4" descr="patch_poro.png">
            <a:extLst>
              <a:ext uri="{FF2B5EF4-FFF2-40B4-BE49-F238E27FC236}">
                <a16:creationId xmlns:a16="http://schemas.microsoft.com/office/drawing/2014/main" id="{D93C32A3-3ED6-417D-8226-231135B5D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321" y="2471040"/>
            <a:ext cx="1280160" cy="1071355"/>
          </a:xfrm>
          <a:prstGeom prst="rect">
            <a:avLst/>
          </a:prstGeom>
        </p:spPr>
      </p:pic>
      <p:sp>
        <p:nvSpPr>
          <p:cNvPr id="112" name="Shape 22">
            <a:extLst>
              <a:ext uri="{FF2B5EF4-FFF2-40B4-BE49-F238E27FC236}">
                <a16:creationId xmlns:a16="http://schemas.microsoft.com/office/drawing/2014/main" id="{B7FD5CB4-3911-46FC-83D2-C7683B6E3180}"/>
              </a:ext>
            </a:extLst>
          </p:cNvPr>
          <p:cNvSpPr/>
          <p:nvPr/>
        </p:nvSpPr>
        <p:spPr>
          <a:xfrm>
            <a:off x="4704496" y="2453111"/>
            <a:ext cx="1308847" cy="109979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8F41083-C282-41E3-A9B2-6A4D55A083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9403" y="414759"/>
            <a:ext cx="1737360" cy="108827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4BE4AF9-16BC-440D-A44B-3EFB0D4948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395013"/>
            <a:ext cx="1818356" cy="1186810"/>
          </a:xfrm>
          <a:prstGeom prst="rect">
            <a:avLst/>
          </a:prstGeom>
        </p:spPr>
      </p:pic>
      <p:sp>
        <p:nvSpPr>
          <p:cNvPr id="58" name="Shape 49"/>
          <p:cNvSpPr/>
          <p:nvPr/>
        </p:nvSpPr>
        <p:spPr>
          <a:xfrm>
            <a:off x="8420000" y="5290000"/>
            <a:ext cx="1960000" cy="430000"/>
          </a:xfrm>
          <a:prstGeom prst="roundRect">
            <a:avLst>
              <a:gd name="adj" fmla="val 12000"/>
            </a:avLst>
          </a:prstGeom>
          <a:solidFill>
            <a:srgbClr val="1F2566"/>
          </a:solidFill>
          <a:ln/>
        </p:spPr>
      </p:sp>
      <p:sp>
        <p:nvSpPr>
          <p:cNvPr id="59" name="Text 50"/>
          <p:cNvSpPr/>
          <p:nvPr/>
        </p:nvSpPr>
        <p:spPr>
          <a:xfrm>
            <a:off x="8420000" y="5290000"/>
            <a:ext cx="1960000" cy="43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b="1" dirty="0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orchestrate + audit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106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Abdulrahman Ahmed Ahmed Alfakih</dc:creator>
  <cp:lastModifiedBy>Abdulrahman Ahmed Ahmed Alfakih</cp:lastModifiedBy>
  <cp:revision>4</cp:revision>
  <dcterms:created xsi:type="dcterms:W3CDTF">2026-07-30T12:05:49Z</dcterms:created>
  <dcterms:modified xsi:type="dcterms:W3CDTF">2026-07-31T20:56:16Z</dcterms:modified>
</cp:coreProperties>
</file>